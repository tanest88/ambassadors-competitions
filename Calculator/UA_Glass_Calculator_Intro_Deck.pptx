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20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rco.de/bgguL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qrco.de/bgguL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qr_mug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86865"/>
            <a:ext cx="4434840" cy="46624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28261" y="1234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UA Glass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Calculator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928261" y="2788920"/>
            <a:ext cx="2148840" cy="384048"/>
          </a:xfrm>
          <a:prstGeom prst="rect">
            <a:avLst/>
          </a:prstGeom>
          <a:solidFill>
            <a:srgbClr val="AB05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 &amp; starter code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928261" y="345643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missing calculator functions in plain JavaScript.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is already provided — your job is the function logic.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928261" y="477316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High School Scholars  ·  CS Ambassadors  ·  University of Arizona</a:t>
            </a:r>
            <a:endParaRPr lang="en-US" sz="108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4922318" y="5212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Starter code: qrco.de/bgguLE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challenge 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64240" y="310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are not building the whole app from scratch.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8096" y="17830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30" dirty="0"/>
          </a:p>
        </p:txBody>
      </p:sp>
      <p:sp>
        <p:nvSpPr>
          <p:cNvPr id="8" name="Text 6"/>
          <p:cNvSpPr/>
          <p:nvPr/>
        </p:nvSpPr>
        <p:spPr>
          <a:xfrm>
            <a:off x="969264" y="18013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calculator interface already works.</a:t>
            </a:r>
            <a:endParaRPr lang="en-US" sz="1630" dirty="0"/>
          </a:p>
        </p:txBody>
      </p:sp>
      <p:sp>
        <p:nvSpPr>
          <p:cNvPr id="9" name="Text 7"/>
          <p:cNvSpPr/>
          <p:nvPr/>
        </p:nvSpPr>
        <p:spPr>
          <a:xfrm>
            <a:off x="76809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30" dirty="0"/>
          </a:p>
        </p:txBody>
      </p:sp>
      <p:sp>
        <p:nvSpPr>
          <p:cNvPr id="10" name="Text 8"/>
          <p:cNvSpPr/>
          <p:nvPr/>
        </p:nvSpPr>
        <p:spPr>
          <a:xfrm>
            <a:off x="969264" y="23500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complete the missing math functions.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768096" y="28803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30" dirty="0"/>
          </a:p>
        </p:txBody>
      </p:sp>
      <p:sp>
        <p:nvSpPr>
          <p:cNvPr id="12" name="Text 10"/>
          <p:cNvSpPr/>
          <p:nvPr/>
        </p:nvSpPr>
        <p:spPr>
          <a:xfrm>
            <a:off x="969264" y="28986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starter uses browser-based HTML, CSS, and JavaScript.</a:t>
            </a:r>
            <a:endParaRPr lang="en-US" sz="1630" dirty="0"/>
          </a:p>
        </p:txBody>
      </p:sp>
      <p:sp>
        <p:nvSpPr>
          <p:cNvPr id="13" name="Text 11"/>
          <p:cNvSpPr/>
          <p:nvPr/>
        </p:nvSpPr>
        <p:spPr>
          <a:xfrm>
            <a:off x="768096" y="34290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3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30" dirty="0"/>
          </a:p>
        </p:txBody>
      </p:sp>
      <p:sp>
        <p:nvSpPr>
          <p:cNvPr id="14" name="Text 12"/>
          <p:cNvSpPr/>
          <p:nvPr/>
        </p:nvSpPr>
        <p:spPr>
          <a:xfrm>
            <a:off x="969264" y="34472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logic and correct return values both matter.</a:t>
            </a:r>
            <a:endParaRPr lang="en-US" sz="1630" dirty="0"/>
          </a:p>
        </p:txBody>
      </p:sp>
      <p:sp>
        <p:nvSpPr>
          <p:cNvPr id="15" name="Text 13"/>
          <p:cNvSpPr/>
          <p:nvPr/>
        </p:nvSpPr>
        <p:spPr>
          <a:xfrm>
            <a:off x="768096" y="4526280"/>
            <a:ext cx="1417320" cy="960120"/>
          </a:xfrm>
          <a:prstGeom prst="rect">
            <a:avLst/>
          </a:prstGeom>
          <a:solidFill>
            <a:srgbClr val="101F47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D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B9D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59152" y="4526280"/>
            <a:ext cx="1417320" cy="960120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0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C0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to edit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50208" y="4526280"/>
            <a:ext cx="1600200" cy="960120"/>
          </a:xfrm>
          <a:prstGeom prst="rect">
            <a:avLst/>
          </a:prstGeom>
          <a:solidFill>
            <a:srgbClr val="101F47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9320" y="1389888"/>
            <a:ext cx="5349240" cy="4160520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CalcOps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 strict"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code 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code 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})();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98464" y="5669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app logic is already wired up.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focus on the function bodies.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Functions at a glance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64240" y="310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easy group, then move up.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401568" cy="4526280"/>
          </a:xfrm>
          <a:prstGeom prst="rect">
            <a:avLst/>
          </a:prstGeom>
          <a:solidFill>
            <a:srgbClr val="101F47"/>
          </a:solidFill>
          <a:ln w="12700">
            <a:solidFill>
              <a:srgbClr val="2A3553"/>
            </a:solidFill>
          </a:ln>
        </p:spPr>
        <p:txBody>
          <a:bodyPr wrap="square" lIns="3048" tIns="3048" rIns="3048" bIns="304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EASY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add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subtract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multiply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divide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0" y="1737360"/>
            <a:ext cx="3401568" cy="4526280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3048" tIns="3048" rIns="3048" bIns="3048" rtlCol="0" anchor="t">
            <a:normAutofit/>
          </a:bodyPr>
          <a:lstStyle/>
          <a:p>
            <a:pPr marL="0" indent="0" algn="l">
              <a:buNone/>
            </a:pPr>
            <a:endParaRPr lang="en-US" sz="2100" b="1" dirty="0">
              <a:solidFill>
                <a:srgbClr val="F7F8FC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l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MEDIUM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square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percent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reciprocal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</a:t>
            </a:r>
            <a:r>
              <a:rPr lang="en-US" sz="2100" b="1" dirty="0" err="1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toggleSign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28432" y="1737360"/>
            <a:ext cx="3401568" cy="4526280"/>
          </a:xfrm>
          <a:prstGeom prst="rect">
            <a:avLst/>
          </a:prstGeom>
          <a:solidFill>
            <a:srgbClr val="121221"/>
          </a:solidFill>
          <a:ln w="12700">
            <a:solidFill>
              <a:srgbClr val="2A3553"/>
            </a:solidFill>
          </a:ln>
        </p:spPr>
        <p:txBody>
          <a:bodyPr wrap="square" lIns="3048" tIns="3048" rIns="3048" bIns="3048" rtlCol="0" anchor="t">
            <a:normAutofit/>
          </a:bodyPr>
          <a:lstStyle/>
          <a:p>
            <a:pPr marL="0" indent="0" algn="l">
              <a:buNone/>
            </a:pPr>
            <a:endParaRPr lang="en-US" sz="2200" b="1" dirty="0">
              <a:solidFill>
                <a:srgbClr val="F7F8FC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HARD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power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sqrt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factorial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65008" y="574243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30" i="1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thinking matters most in the hard set.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Rules that matter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64240" y="310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618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Math.* in the restricted functions.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8096" y="18653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9264" y="188366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functions must return [true, value] or [false, 0].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24323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9264" y="24505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 handles the UI — your functions handle the math.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" y="29992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9264" y="301752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logic simple, readable, and correct.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" y="35661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9264" y="358444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zero, negative, and invalid-input cases too.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" y="4663440"/>
            <a:ext cx="1234440" cy="594360"/>
          </a:xfrm>
          <a:prstGeom prst="rect">
            <a:avLst/>
          </a:prstGeom>
          <a:solidFill>
            <a:srgbClr val="AB0520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MATH.*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76272" y="48097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restricted shortcut can cost the whole function.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080760" y="1444752"/>
            <a:ext cx="5166360" cy="3977640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divide(8, 2)  -&gt; [true, 4]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divide(5, 0)  -&gt; [false, 0]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sqrt(9)       -&gt; [true, 3]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sqrt(-1)      -&gt; [false, 0]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square(5)     -&gt; 25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percent(50)   -&gt; 0.5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5577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return type matters just as much as the math.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grading works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64240" y="310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3566160" cy="914400"/>
          </a:xfrm>
          <a:prstGeom prst="homePlate">
            <a:avLst/>
          </a:prstGeom>
          <a:solidFill>
            <a:srgbClr val="EDF5EA"/>
          </a:solidFill>
          <a:ln w="12700">
            <a:solidFill>
              <a:srgbClr val="00800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008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pts</a:t>
            </a:r>
            <a:endParaRPr lang="en-US" sz="1850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sz="1850" b="1" dirty="0">
                <a:solidFill>
                  <a:srgbClr val="008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 output across the tested cases.</a:t>
            </a:r>
            <a:endParaRPr lang="en-US" sz="1850" dirty="0">
              <a:solidFill>
                <a:srgbClr val="008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566160" cy="914400"/>
          </a:xfrm>
          <a:prstGeom prst="homePlate">
            <a:avLst/>
          </a:prstGeom>
          <a:solidFill>
            <a:srgbClr val="F5EEDC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chemeClr val="accent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Partial pts</a:t>
            </a:r>
            <a:endParaRPr lang="en-US" sz="182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820" b="1" dirty="0">
                <a:solidFill>
                  <a:schemeClr val="accent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Right direction, but a smaller mistake remains.</a:t>
            </a:r>
            <a:endParaRPr lang="en-US" sz="182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3648456"/>
            <a:ext cx="3566160" cy="914400"/>
          </a:xfrm>
          <a:prstGeom prst="homePlate">
            <a:avLst/>
          </a:prstGeom>
          <a:solidFill>
            <a:srgbClr val="F8E8EB"/>
          </a:solidFill>
          <a:ln w="12700">
            <a:solidFill>
              <a:srgbClr val="C0000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760" b="1" dirty="0">
                <a:solidFill>
                  <a:srgbClr val="C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pts</a:t>
            </a:r>
            <a:endParaRPr lang="en-US" sz="1760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sz="1760" b="1" dirty="0">
                <a:solidFill>
                  <a:srgbClr val="C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attempted, crashes, or breaks a required rule.</a:t>
            </a:r>
            <a:endParaRPr lang="en-US" sz="1760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base score: 105 points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543405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 on the grading sheet: +5 for live demo / presentation skills.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892040" y="1389888"/>
            <a:ext cx="1005840" cy="411480"/>
          </a:xfrm>
          <a:prstGeom prst="rect">
            <a:avLst/>
          </a:prstGeom>
          <a:solidFill>
            <a:srgbClr val="0C234B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71032" y="1389888"/>
            <a:ext cx="3429000" cy="411480"/>
          </a:xfrm>
          <a:prstGeom prst="rect">
            <a:avLst/>
          </a:prstGeom>
          <a:solidFill>
            <a:srgbClr val="0C234B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73184" y="1389888"/>
            <a:ext cx="822960" cy="411480"/>
          </a:xfrm>
          <a:prstGeom prst="rect">
            <a:avLst/>
          </a:prstGeom>
          <a:solidFill>
            <a:srgbClr val="0C234B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Pts each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69296" y="1389888"/>
            <a:ext cx="822960" cy="411480"/>
          </a:xfrm>
          <a:prstGeom prst="rect">
            <a:avLst/>
          </a:prstGeom>
          <a:solidFill>
            <a:srgbClr val="0C234B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38528"/>
            <a:ext cx="1005840" cy="713232"/>
          </a:xfrm>
          <a:prstGeom prst="rect">
            <a:avLst/>
          </a:prstGeom>
          <a:solidFill>
            <a:srgbClr val="EDF5EA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</a:t>
            </a:r>
            <a:endParaRPr lang="en-US" sz="1600" dirty="0">
              <a:solidFill>
                <a:srgbClr val="008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71032" y="1938528"/>
            <a:ext cx="342900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F7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add, subtract, multiply, divide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9473184" y="1938528"/>
            <a:ext cx="82296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69296" y="1938528"/>
            <a:ext cx="82296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2807208"/>
            <a:ext cx="1005840" cy="713232"/>
          </a:xfrm>
          <a:prstGeom prst="rect">
            <a:avLst/>
          </a:prstGeom>
          <a:solidFill>
            <a:srgbClr val="F5EEDC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71032" y="2807208"/>
            <a:ext cx="342900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F7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square, percent, reciprocal, toggleSign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9473184" y="2807208"/>
            <a:ext cx="82296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69296" y="2807208"/>
            <a:ext cx="82296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675888"/>
            <a:ext cx="1005840" cy="713232"/>
          </a:xfrm>
          <a:prstGeom prst="rect">
            <a:avLst/>
          </a:prstGeom>
          <a:solidFill>
            <a:srgbClr val="F1E7F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71032" y="3675888"/>
            <a:ext cx="342900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F7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power, sqrt, factorial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9473184" y="3675888"/>
            <a:ext cx="82296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69296" y="3675888"/>
            <a:ext cx="822960" cy="713232"/>
          </a:xfrm>
          <a:prstGeom prst="rect">
            <a:avLst/>
          </a:prstGeom>
          <a:solidFill>
            <a:srgbClr val="0B1430"/>
          </a:solidFill>
          <a:ln w="12700">
            <a:solidFill>
              <a:srgbClr val="2A3553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37760" y="550468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credit is available for solutions that are close but not perfect.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3108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+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started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64240" y="310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pic>
        <p:nvPicPr>
          <p:cNvPr id="6" name="Image 0" descr="/mnt/data/qr_crop2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417320"/>
            <a:ext cx="40233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5532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Scan to open the starter code</a:t>
            </a:r>
            <a:endParaRPr lang="en-US" sz="1700" dirty="0"/>
          </a:p>
        </p:txBody>
      </p:sp>
      <p:sp>
        <p:nvSpPr>
          <p:cNvPr id="8" name="Text 5">
            <a:hlinkClick r:id="rId3"/>
          </p:cNvPr>
          <p:cNvSpPr/>
          <p:nvPr/>
        </p:nvSpPr>
        <p:spPr>
          <a:xfrm>
            <a:off x="562356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F7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qrco.de/bgguLE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562356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17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start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50992" y="26974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20" dirty="0"/>
          </a:p>
        </p:txBody>
      </p:sp>
      <p:sp>
        <p:nvSpPr>
          <p:cNvPr id="11" name="Text 8"/>
          <p:cNvSpPr/>
          <p:nvPr/>
        </p:nvSpPr>
        <p:spPr>
          <a:xfrm>
            <a:off x="5852160" y="27157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the QR code or open the link.</a:t>
            </a:r>
            <a:endParaRPr lang="en-US" sz="1620" dirty="0"/>
          </a:p>
        </p:txBody>
      </p:sp>
      <p:sp>
        <p:nvSpPr>
          <p:cNvPr id="12" name="Text 9"/>
          <p:cNvSpPr/>
          <p:nvPr/>
        </p:nvSpPr>
        <p:spPr>
          <a:xfrm>
            <a:off x="5650992" y="3319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20" dirty="0"/>
          </a:p>
        </p:txBody>
      </p:sp>
      <p:sp>
        <p:nvSpPr>
          <p:cNvPr id="13" name="Text 10"/>
          <p:cNvSpPr/>
          <p:nvPr/>
        </p:nvSpPr>
        <p:spPr>
          <a:xfrm>
            <a:off x="5852160" y="3337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calcFunctions.js in the starter files.</a:t>
            </a:r>
            <a:endParaRPr lang="en-US" sz="1620" dirty="0"/>
          </a:p>
        </p:txBody>
      </p:sp>
      <p:sp>
        <p:nvSpPr>
          <p:cNvPr id="14" name="Text 11"/>
          <p:cNvSpPr/>
          <p:nvPr/>
        </p:nvSpPr>
        <p:spPr>
          <a:xfrm>
            <a:off x="5650992" y="3941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20" dirty="0"/>
          </a:p>
        </p:txBody>
      </p:sp>
      <p:sp>
        <p:nvSpPr>
          <p:cNvPr id="15" name="Text 12"/>
          <p:cNvSpPr/>
          <p:nvPr/>
        </p:nvSpPr>
        <p:spPr>
          <a:xfrm>
            <a:off x="5852160" y="39593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the missing functions.</a:t>
            </a:r>
            <a:endParaRPr lang="en-US" sz="1620" dirty="0"/>
          </a:p>
        </p:txBody>
      </p:sp>
      <p:sp>
        <p:nvSpPr>
          <p:cNvPr id="16" name="Text 13"/>
          <p:cNvSpPr/>
          <p:nvPr/>
        </p:nvSpPr>
        <p:spPr>
          <a:xfrm>
            <a:off x="5650992" y="45628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0" b="1" dirty="0">
                <a:solidFill>
                  <a:srgbClr val="C11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20" dirty="0"/>
          </a:p>
        </p:txBody>
      </p:sp>
      <p:sp>
        <p:nvSpPr>
          <p:cNvPr id="17" name="Text 14"/>
          <p:cNvSpPr/>
          <p:nvPr/>
        </p:nvSpPr>
        <p:spPr>
          <a:xfrm>
            <a:off x="5852160" y="45811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E9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in the browser and keep improving.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5623560" y="544068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i="1" dirty="0">
                <a:solidFill>
                  <a:srgbClr val="AE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about strong function logic — not flashy complexity.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566</Words>
  <Application>Microsoft Office PowerPoint</Application>
  <PresentationFormat>Widescreen</PresentationFormat>
  <Paragraphs>124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 Glass Calculator Intro</dc:title>
  <dc:subject>Introductory slideshow</dc:subject>
  <dc:creator>OpenAI</dc:creator>
  <cp:lastModifiedBy>Ruzmetov, Hidoyat Odilbek o'g'li - (hidoyatruzmetov)</cp:lastModifiedBy>
  <cp:revision>2</cp:revision>
  <dcterms:created xsi:type="dcterms:W3CDTF">2026-03-19T17:01:10Z</dcterms:created>
  <dcterms:modified xsi:type="dcterms:W3CDTF">2026-03-19T17:13:09Z</dcterms:modified>
</cp:coreProperties>
</file>